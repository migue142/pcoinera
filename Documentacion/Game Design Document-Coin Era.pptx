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  <p:embeddedFont>
      <p:font typeface="Tomorrow Bol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47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6.svg"/><Relationship Id="rId5" Type="http://schemas.openxmlformats.org/officeDocument/2006/relationships/image" Target="../media/image4.png"/><Relationship Id="rId10" Type="http://schemas.openxmlformats.org/officeDocument/2006/relationships/image" Target="../media/image25.png"/><Relationship Id="rId4" Type="http://schemas.openxmlformats.org/officeDocument/2006/relationships/image" Target="../media/image3.sv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D640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D640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1271833">
            <a:off x="1462652" y="6746856"/>
            <a:ext cx="2349469" cy="1655592"/>
          </a:xfrm>
          <a:custGeom>
            <a:avLst/>
            <a:gdLst/>
            <a:ahLst/>
            <a:cxnLst/>
            <a:rect l="l" t="t" r="r" b="b"/>
            <a:pathLst>
              <a:path w="2349469" h="1655592">
                <a:moveTo>
                  <a:pt x="0" y="0"/>
                </a:moveTo>
                <a:lnTo>
                  <a:pt x="2349469" y="0"/>
                </a:lnTo>
                <a:lnTo>
                  <a:pt x="2349469" y="1655592"/>
                </a:lnTo>
                <a:lnTo>
                  <a:pt x="0" y="16555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223660" flipV="1">
            <a:off x="14459957" y="6885353"/>
            <a:ext cx="2349469" cy="1655592"/>
          </a:xfrm>
          <a:custGeom>
            <a:avLst/>
            <a:gdLst/>
            <a:ahLst/>
            <a:cxnLst/>
            <a:rect l="l" t="t" r="r" b="b"/>
            <a:pathLst>
              <a:path w="2349469" h="1655592">
                <a:moveTo>
                  <a:pt x="0" y="1655593"/>
                </a:moveTo>
                <a:lnTo>
                  <a:pt x="2349469" y="1655593"/>
                </a:lnTo>
                <a:lnTo>
                  <a:pt x="2349469" y="0"/>
                </a:lnTo>
                <a:lnTo>
                  <a:pt x="0" y="0"/>
                </a:lnTo>
                <a:lnTo>
                  <a:pt x="0" y="1655593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99721" y="3145945"/>
            <a:ext cx="160330" cy="160330"/>
            <a:chOff x="0" y="0"/>
            <a:chExt cx="313109" cy="3131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6952" y="3460262"/>
            <a:ext cx="325867" cy="325867"/>
            <a:chOff x="0" y="0"/>
            <a:chExt cx="636389" cy="6363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99721" y="3543031"/>
            <a:ext cx="160330" cy="160330"/>
            <a:chOff x="0" y="0"/>
            <a:chExt cx="313109" cy="3131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99721" y="3941486"/>
            <a:ext cx="160330" cy="160330"/>
            <a:chOff x="0" y="0"/>
            <a:chExt cx="313109" cy="3131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9721" y="4338572"/>
            <a:ext cx="160330" cy="160330"/>
            <a:chOff x="0" y="0"/>
            <a:chExt cx="313109" cy="3131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37880" y="7820764"/>
            <a:ext cx="3107918" cy="969670"/>
            <a:chOff x="0" y="0"/>
            <a:chExt cx="884909" cy="2760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4909" cy="276092"/>
            </a:xfrm>
            <a:custGeom>
              <a:avLst/>
              <a:gdLst/>
              <a:ahLst/>
              <a:cxnLst/>
              <a:rect l="l" t="t" r="r" b="b"/>
              <a:pathLst>
                <a:path w="884909" h="276092">
                  <a:moveTo>
                    <a:pt x="0" y="0"/>
                  </a:moveTo>
                  <a:lnTo>
                    <a:pt x="884909" y="0"/>
                  </a:lnTo>
                  <a:lnTo>
                    <a:pt x="884909" y="276092"/>
                  </a:lnTo>
                  <a:lnTo>
                    <a:pt x="0" y="276092"/>
                  </a:lnTo>
                  <a:close/>
                </a:path>
              </a:pathLst>
            </a:custGeom>
            <a:gradFill rotWithShape="1">
              <a:gsLst>
                <a:gs pos="0">
                  <a:srgbClr val="0E082C">
                    <a:alpha val="100000"/>
                  </a:srgbClr>
                </a:gs>
                <a:gs pos="100000">
                  <a:srgbClr val="871B8A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884909" cy="333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93109" y="4084029"/>
            <a:ext cx="13101782" cy="157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1"/>
              </a:lnSpc>
            </a:pPr>
            <a:r>
              <a:rPr lang="en-US" sz="12712" b="1" i="1">
                <a:solidFill>
                  <a:srgbClr val="D640C6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59565" y="6050548"/>
            <a:ext cx="9768869" cy="1190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PRESENTATION BY: MIGUEL MEDINA Y ALEJANDRO AREVALO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35861" y="7866698"/>
            <a:ext cx="2311956" cy="82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5"/>
              </a:lnSpc>
              <a:spcBef>
                <a:spcPct val="0"/>
              </a:spcBef>
            </a:pPr>
            <a:r>
              <a:rPr lang="en-US" sz="233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Juego 2D plataformas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641818" y="2836737"/>
            <a:ext cx="4717414" cy="5722645"/>
            <a:chOff x="0" y="0"/>
            <a:chExt cx="598823" cy="726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823" cy="726426"/>
            </a:xfrm>
            <a:custGeom>
              <a:avLst/>
              <a:gdLst/>
              <a:ahLst/>
              <a:cxnLst/>
              <a:rect l="l" t="t" r="r" b="b"/>
              <a:pathLst>
                <a:path w="598823" h="726426">
                  <a:moveTo>
                    <a:pt x="395623" y="0"/>
                  </a:moveTo>
                  <a:lnTo>
                    <a:pt x="0" y="0"/>
                  </a:lnTo>
                  <a:lnTo>
                    <a:pt x="203200" y="726426"/>
                  </a:lnTo>
                  <a:lnTo>
                    <a:pt x="598823" y="726426"/>
                  </a:lnTo>
                  <a:lnTo>
                    <a:pt x="395623" y="0"/>
                  </a:lnTo>
                  <a:close/>
                </a:path>
              </a:pathLst>
            </a:custGeom>
            <a:blipFill>
              <a:blip r:embed="rId8"/>
              <a:stretch>
                <a:fillRect l="-6952" r="-695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2924037" y="2091332"/>
            <a:ext cx="4148688" cy="5599732"/>
            <a:chOff x="0" y="0"/>
            <a:chExt cx="526630" cy="710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6630" cy="710824"/>
            </a:xfrm>
            <a:custGeom>
              <a:avLst/>
              <a:gdLst/>
              <a:ahLst/>
              <a:cxnLst/>
              <a:rect l="l" t="t" r="r" b="b"/>
              <a:pathLst>
                <a:path w="526630" h="710824">
                  <a:moveTo>
                    <a:pt x="323430" y="0"/>
                  </a:moveTo>
                  <a:lnTo>
                    <a:pt x="0" y="0"/>
                  </a:lnTo>
                  <a:lnTo>
                    <a:pt x="203200" y="710824"/>
                  </a:lnTo>
                  <a:lnTo>
                    <a:pt x="526630" y="710824"/>
                  </a:lnTo>
                  <a:lnTo>
                    <a:pt x="323430" y="0"/>
                  </a:lnTo>
                  <a:close/>
                </a:path>
              </a:pathLst>
            </a:custGeom>
            <a:blipFill>
              <a:blip r:embed="rId9"/>
              <a:stretch>
                <a:fillRect l="-17487" r="-1748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00364" y="1947694"/>
            <a:ext cx="6655409" cy="96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REFERENTES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3763734"/>
            <a:ext cx="5135927" cy="1469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9981" lvl="1" indent="-189991" algn="l">
              <a:lnSpc>
                <a:spcPts val="2991"/>
              </a:lnSpc>
              <a:buFont typeface="Arial"/>
              <a:buChar char="•"/>
            </a:pPr>
            <a:r>
              <a:rPr lang="en-US" sz="175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Super Mario Bros.</a:t>
            </a:r>
          </a:p>
          <a:p>
            <a:pPr algn="just">
              <a:lnSpc>
                <a:spcPts val="2991"/>
              </a:lnSpc>
            </a:pPr>
            <a:r>
              <a:rPr lang="en-US" sz="17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Nos inspira principalmente en el movimiento lateral, los saltos, las plataformas y la recolección de monedas.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54121" y="2945856"/>
            <a:ext cx="5985176" cy="360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1"/>
              </a:lnSpc>
            </a:pPr>
            <a:r>
              <a:rPr lang="en-US" sz="17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Tres juegos que sirven como inspiración: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78746" y="5424831"/>
            <a:ext cx="4586702" cy="1469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9981" lvl="1" indent="-189991" algn="l">
              <a:lnSpc>
                <a:spcPts val="2991"/>
              </a:lnSpc>
              <a:buFont typeface="Arial"/>
              <a:buChar char="•"/>
            </a:pPr>
            <a:r>
              <a:rPr lang="en-US" sz="175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Sonic the Hedgehog.</a:t>
            </a:r>
          </a:p>
          <a:p>
            <a:pPr algn="l">
              <a:lnSpc>
                <a:spcPts val="2991"/>
              </a:lnSpc>
            </a:pPr>
            <a:r>
              <a:rPr lang="en-US" sz="17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inspira en los niveles con desplazamiento lateral y la recolección de objetos durante el recorrido.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8865" y="7255907"/>
            <a:ext cx="5135927" cy="109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9981" lvl="1" indent="-189991" algn="l">
              <a:lnSpc>
                <a:spcPts val="2991"/>
              </a:lnSpc>
              <a:buFont typeface="Arial"/>
              <a:buChar char="•"/>
            </a:pPr>
            <a:r>
              <a:rPr lang="en-US" sz="175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Celeste</a:t>
            </a:r>
          </a:p>
          <a:p>
            <a:pPr algn="l">
              <a:lnSpc>
                <a:spcPts val="2991"/>
              </a:lnSpc>
            </a:pPr>
            <a:r>
              <a:rPr lang="en-US" sz="17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inspira en el diseño de niveles basado en plataformas, saltos y obstáculos.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641818" y="2818974"/>
            <a:ext cx="4717414" cy="5722645"/>
            <a:chOff x="0" y="0"/>
            <a:chExt cx="598823" cy="726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823" cy="726426"/>
            </a:xfrm>
            <a:custGeom>
              <a:avLst/>
              <a:gdLst/>
              <a:ahLst/>
              <a:cxnLst/>
              <a:rect l="l" t="t" r="r" b="b"/>
              <a:pathLst>
                <a:path w="598823" h="726426">
                  <a:moveTo>
                    <a:pt x="395623" y="0"/>
                  </a:moveTo>
                  <a:lnTo>
                    <a:pt x="0" y="0"/>
                  </a:lnTo>
                  <a:lnTo>
                    <a:pt x="203200" y="726426"/>
                  </a:lnTo>
                  <a:lnTo>
                    <a:pt x="598823" y="726426"/>
                  </a:lnTo>
                  <a:lnTo>
                    <a:pt x="395623" y="0"/>
                  </a:lnTo>
                  <a:close/>
                </a:path>
              </a:pathLst>
            </a:custGeom>
            <a:blipFill>
              <a:blip r:embed="rId8"/>
              <a:stretch>
                <a:fillRect l="-40868" r="-40868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074068" y="2091332"/>
            <a:ext cx="4148688" cy="5599732"/>
            <a:chOff x="0" y="0"/>
            <a:chExt cx="526630" cy="7108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6630" cy="710824"/>
            </a:xfrm>
            <a:custGeom>
              <a:avLst/>
              <a:gdLst/>
              <a:ahLst/>
              <a:cxnLst/>
              <a:rect l="l" t="t" r="r" b="b"/>
              <a:pathLst>
                <a:path w="526630" h="710824">
                  <a:moveTo>
                    <a:pt x="323430" y="0"/>
                  </a:moveTo>
                  <a:lnTo>
                    <a:pt x="0" y="0"/>
                  </a:lnTo>
                  <a:lnTo>
                    <a:pt x="203200" y="710824"/>
                  </a:lnTo>
                  <a:lnTo>
                    <a:pt x="526630" y="710824"/>
                  </a:lnTo>
                  <a:lnTo>
                    <a:pt x="323430" y="0"/>
                  </a:lnTo>
                  <a:close/>
                </a:path>
              </a:pathLst>
            </a:custGeom>
            <a:blipFill>
              <a:blip r:embed="rId9"/>
              <a:stretch>
                <a:fillRect t="-5496" b="-549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595573" y="2818974"/>
            <a:ext cx="6289283" cy="173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1"/>
              </a:lnSpc>
            </a:pPr>
            <a:r>
              <a:rPr lang="en-US" sz="5772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CONCEPTO DEL JUEGO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8957" y="4924475"/>
            <a:ext cx="8562514" cy="163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12"/>
              </a:lnSpc>
            </a:pPr>
            <a:r>
              <a:rPr lang="en-US" sz="1537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Historia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2612"/>
              </a:lnSpc>
            </a:pP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humanidad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abusado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viajes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provocando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ruptura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amenaza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destruir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universo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El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dios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Paradox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ofrece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salvarlo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reunir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reliquias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representan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antiguas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monedas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Un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aventurero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deberá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recorrer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distintos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mundos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conseguirlas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salvar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537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humanidad</a:t>
            </a:r>
            <a:r>
              <a:rPr lang="en-US" sz="1537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325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169045" y="9840248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641818" y="2818974"/>
            <a:ext cx="4717414" cy="5722645"/>
            <a:chOff x="0" y="0"/>
            <a:chExt cx="598823" cy="726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823" cy="726426"/>
            </a:xfrm>
            <a:custGeom>
              <a:avLst/>
              <a:gdLst/>
              <a:ahLst/>
              <a:cxnLst/>
              <a:rect l="l" t="t" r="r" b="b"/>
              <a:pathLst>
                <a:path w="598823" h="726426">
                  <a:moveTo>
                    <a:pt x="395623" y="0"/>
                  </a:moveTo>
                  <a:lnTo>
                    <a:pt x="0" y="0"/>
                  </a:lnTo>
                  <a:lnTo>
                    <a:pt x="203200" y="726426"/>
                  </a:lnTo>
                  <a:lnTo>
                    <a:pt x="598823" y="726426"/>
                  </a:lnTo>
                  <a:lnTo>
                    <a:pt x="395623" y="0"/>
                  </a:lnTo>
                  <a:close/>
                </a:path>
              </a:pathLst>
            </a:custGeom>
            <a:blipFill>
              <a:blip r:embed="rId8"/>
              <a:stretch>
                <a:fillRect t="-11864" b="-1186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1256" y="9632302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743703" y="2091332"/>
            <a:ext cx="4479053" cy="6045646"/>
            <a:chOff x="0" y="0"/>
            <a:chExt cx="526630" cy="7108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6630" cy="710824"/>
            </a:xfrm>
            <a:custGeom>
              <a:avLst/>
              <a:gdLst/>
              <a:ahLst/>
              <a:cxnLst/>
              <a:rect l="l" t="t" r="r" b="b"/>
              <a:pathLst>
                <a:path w="526630" h="710824">
                  <a:moveTo>
                    <a:pt x="323430" y="0"/>
                  </a:moveTo>
                  <a:lnTo>
                    <a:pt x="0" y="0"/>
                  </a:lnTo>
                  <a:lnTo>
                    <a:pt x="203200" y="710824"/>
                  </a:lnTo>
                  <a:lnTo>
                    <a:pt x="526630" y="710824"/>
                  </a:lnTo>
                  <a:lnTo>
                    <a:pt x="323430" y="0"/>
                  </a:lnTo>
                  <a:close/>
                </a:path>
              </a:pathLst>
            </a:custGeom>
            <a:blipFill>
              <a:blip r:embed="rId9"/>
              <a:stretch>
                <a:fillRect l="-99016" r="-3574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20169" y="2510670"/>
            <a:ext cx="5690573" cy="150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2"/>
              </a:lnSpc>
            </a:pPr>
            <a:r>
              <a:rPr lang="en-US" sz="5036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OBJETIVO DEL JUGADOR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5766" y="4290215"/>
            <a:ext cx="6799378" cy="7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37"/>
              </a:lnSpc>
            </a:pPr>
            <a:r>
              <a:rPr lang="en-US" sz="17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Durante el recorrido tendrá que saltar entre plataformas, recoger objetos clave y evitar enemigos y obstáculos.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865766" y="5399861"/>
            <a:ext cx="6491985" cy="77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1"/>
              </a:lnSpc>
            </a:pPr>
            <a:r>
              <a:rPr lang="en-US" sz="1824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lang="en-US" sz="1824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principal:</a:t>
            </a:r>
          </a:p>
          <a:p>
            <a:pPr algn="just">
              <a:lnSpc>
                <a:spcPts val="3101"/>
              </a:lnSpc>
            </a:pP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Llegar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 final de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tocar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bandera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meta.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5766" y="6523285"/>
            <a:ext cx="6491985" cy="1944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1"/>
              </a:lnSpc>
            </a:pPr>
            <a:r>
              <a:rPr lang="en-US" sz="1824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r>
              <a:rPr lang="en-US" sz="1824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b="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secundarios</a:t>
            </a:r>
            <a:r>
              <a:rPr lang="en-US" sz="1824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393942" lvl="1" indent="-196971" algn="just">
              <a:lnSpc>
                <a:spcPts val="3101"/>
              </a:lnSpc>
              <a:buFont typeface="Arial"/>
              <a:buChar char="•"/>
            </a:pP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Recoger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mayor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cantidad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posible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monedas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393942" lvl="1" indent="-196971" algn="just">
              <a:lnSpc>
                <a:spcPts val="3101"/>
              </a:lnSpc>
              <a:buFont typeface="Arial"/>
              <a:buChar char="•"/>
            </a:pP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Evitar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obstáculos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393942" lvl="1" indent="-196971" algn="just">
              <a:lnSpc>
                <a:spcPts val="3101"/>
              </a:lnSpc>
              <a:buFont typeface="Arial"/>
              <a:buChar char="•"/>
            </a:pP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caer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las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plataformas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393942" lvl="1" indent="-196971" algn="just">
              <a:lnSpc>
                <a:spcPts val="3101"/>
              </a:lnSpc>
              <a:buFont typeface="Arial"/>
              <a:buChar char="•"/>
            </a:pP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Completar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menor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2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posible</a:t>
            </a:r>
            <a:r>
              <a:rPr lang="en-US" sz="182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1014" y="8694106"/>
            <a:ext cx="9771579" cy="7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37"/>
              </a:lnSpc>
            </a:pPr>
            <a:r>
              <a:rPr lang="en-US" sz="17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condicion de victoria es llegar a la bandera final y la de derrota es cuando el jugador pierde todas sus vidas cuando caiga o entre en contacto con los enemigos.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641818" y="2818974"/>
            <a:ext cx="4717414" cy="5722645"/>
            <a:chOff x="0" y="0"/>
            <a:chExt cx="598823" cy="726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823" cy="726426"/>
            </a:xfrm>
            <a:custGeom>
              <a:avLst/>
              <a:gdLst/>
              <a:ahLst/>
              <a:cxnLst/>
              <a:rect l="l" t="t" r="r" b="b"/>
              <a:pathLst>
                <a:path w="598823" h="726426">
                  <a:moveTo>
                    <a:pt x="395623" y="0"/>
                  </a:moveTo>
                  <a:lnTo>
                    <a:pt x="0" y="0"/>
                  </a:lnTo>
                  <a:lnTo>
                    <a:pt x="203200" y="726426"/>
                  </a:lnTo>
                  <a:lnTo>
                    <a:pt x="598823" y="726426"/>
                  </a:lnTo>
                  <a:lnTo>
                    <a:pt x="395623" y="0"/>
                  </a:lnTo>
                  <a:close/>
                </a:path>
              </a:pathLst>
            </a:custGeom>
            <a:blipFill>
              <a:blip r:embed="rId8"/>
              <a:stretch>
                <a:fillRect l="-40981" r="-4098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074068" y="2091332"/>
            <a:ext cx="4148688" cy="5599732"/>
            <a:chOff x="0" y="0"/>
            <a:chExt cx="526630" cy="7108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6630" cy="710824"/>
            </a:xfrm>
            <a:custGeom>
              <a:avLst/>
              <a:gdLst/>
              <a:ahLst/>
              <a:cxnLst/>
              <a:rect l="l" t="t" r="r" b="b"/>
              <a:pathLst>
                <a:path w="526630" h="710824">
                  <a:moveTo>
                    <a:pt x="323430" y="0"/>
                  </a:moveTo>
                  <a:lnTo>
                    <a:pt x="0" y="0"/>
                  </a:lnTo>
                  <a:lnTo>
                    <a:pt x="203200" y="710824"/>
                  </a:lnTo>
                  <a:lnTo>
                    <a:pt x="526630" y="710824"/>
                  </a:lnTo>
                  <a:lnTo>
                    <a:pt x="323430" y="0"/>
                  </a:lnTo>
                  <a:close/>
                </a:path>
              </a:pathLst>
            </a:custGeom>
            <a:blipFill>
              <a:blip r:embed="rId9"/>
              <a:stretch>
                <a:fillRect t="-5600" b="-560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516230" y="2091332"/>
            <a:ext cx="4380528" cy="1402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6"/>
              </a:lnSpc>
            </a:pPr>
            <a:r>
              <a:rPr lang="en-US" sz="47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MECÁNICAS PRINCIPALES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1634" y="3855936"/>
            <a:ext cx="8065825" cy="444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80"/>
              </a:lnSpc>
            </a:pPr>
            <a:r>
              <a:rPr lang="en-US" sz="17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Movimiento lateral:</a:t>
            </a:r>
          </a:p>
          <a:p>
            <a:pPr algn="just">
              <a:lnSpc>
                <a:spcPts val="2980"/>
              </a:lnSpc>
            </a:pPr>
            <a:r>
              <a:rPr lang="en-US" sz="1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personaje puede desplazarse hacia la izquierda y derecha.</a:t>
            </a:r>
          </a:p>
          <a:p>
            <a:pPr algn="just">
              <a:lnSpc>
                <a:spcPts val="2980"/>
              </a:lnSpc>
            </a:pPr>
            <a:r>
              <a:rPr lang="en-US" sz="17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Salto:</a:t>
            </a:r>
          </a:p>
          <a:p>
            <a:pPr algn="just">
              <a:lnSpc>
                <a:spcPts val="2980"/>
              </a:lnSpc>
            </a:pPr>
            <a:r>
              <a:rPr lang="en-US" sz="1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jugador puede tener doble salto para superar espacios y alcanzar plataformas mas complicadas.</a:t>
            </a:r>
          </a:p>
          <a:p>
            <a:pPr algn="just">
              <a:lnSpc>
                <a:spcPts val="2980"/>
              </a:lnSpc>
            </a:pPr>
            <a:r>
              <a:rPr lang="en-US" sz="17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Caída:</a:t>
            </a:r>
          </a:p>
          <a:p>
            <a:pPr algn="just">
              <a:lnSpc>
                <a:spcPts val="2980"/>
              </a:lnSpc>
            </a:pPr>
            <a:r>
              <a:rPr lang="en-US" sz="1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 el personaje sale de una plataforma, cae. Si llega al límite inferior del escenario, pierde una vida.</a:t>
            </a:r>
          </a:p>
          <a:p>
            <a:pPr algn="just">
              <a:lnSpc>
                <a:spcPts val="2980"/>
              </a:lnSpc>
            </a:pPr>
            <a:r>
              <a:rPr lang="en-US" sz="17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Recolección:</a:t>
            </a:r>
          </a:p>
          <a:p>
            <a:pPr algn="just">
              <a:lnSpc>
                <a:spcPts val="2980"/>
              </a:lnSpc>
            </a:pPr>
            <a:r>
              <a:rPr lang="en-US" sz="1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personaje puede recoger monedas al entrar en contacto con ellas.</a:t>
            </a:r>
          </a:p>
          <a:p>
            <a:pPr algn="just">
              <a:lnSpc>
                <a:spcPts val="2980"/>
              </a:lnSpc>
            </a:pPr>
            <a:r>
              <a:rPr lang="en-US" sz="17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Meta:</a:t>
            </a:r>
          </a:p>
          <a:p>
            <a:pPr algn="just">
              <a:lnSpc>
                <a:spcPts val="2980"/>
              </a:lnSpc>
            </a:pPr>
            <a:r>
              <a:rPr lang="en-US" sz="1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 tocar la bandera ubicada al final del nivel, se completa el nivel.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420133" y="9409096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269069" y="2804350"/>
            <a:ext cx="5173601" cy="6276041"/>
            <a:chOff x="0" y="0"/>
            <a:chExt cx="598823" cy="726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823" cy="726426"/>
            </a:xfrm>
            <a:custGeom>
              <a:avLst/>
              <a:gdLst/>
              <a:ahLst/>
              <a:cxnLst/>
              <a:rect l="l" t="t" r="r" b="b"/>
              <a:pathLst>
                <a:path w="598823" h="726426">
                  <a:moveTo>
                    <a:pt x="395623" y="0"/>
                  </a:moveTo>
                  <a:lnTo>
                    <a:pt x="0" y="0"/>
                  </a:lnTo>
                  <a:lnTo>
                    <a:pt x="203200" y="726426"/>
                  </a:lnTo>
                  <a:lnTo>
                    <a:pt x="598823" y="726426"/>
                  </a:lnTo>
                  <a:lnTo>
                    <a:pt x="395623" y="0"/>
                  </a:lnTo>
                  <a:close/>
                </a:path>
              </a:pathLst>
            </a:custGeom>
            <a:blipFill>
              <a:blip r:embed="rId8"/>
              <a:stretch>
                <a:fillRect l="-45001" r="-3690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2343" y="9201150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89478" y="1838955"/>
            <a:ext cx="5489425" cy="1508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PERSONAJE PRINCIPAL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5766" y="5478619"/>
            <a:ext cx="4605204" cy="316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0"/>
              </a:lnSpc>
            </a:pPr>
            <a:r>
              <a:rPr lang="en-US" sz="16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Habilidades</a:t>
            </a: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356952" lvl="1" indent="-178476" algn="just">
              <a:lnSpc>
                <a:spcPts val="2810"/>
              </a:lnSpc>
              <a:buFont typeface="Arial"/>
              <a:buChar char="•"/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Caminar/correr. </a:t>
            </a:r>
          </a:p>
          <a:p>
            <a:pPr marL="356952" lvl="1" indent="-178476" algn="just">
              <a:lnSpc>
                <a:spcPts val="2810"/>
              </a:lnSpc>
              <a:buFont typeface="Arial"/>
              <a:buChar char="•"/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Saltar. </a:t>
            </a:r>
          </a:p>
          <a:p>
            <a:pPr marL="356952" lvl="1" indent="-178476" algn="just">
              <a:lnSpc>
                <a:spcPts val="2810"/>
              </a:lnSpc>
              <a:buFont typeface="Arial"/>
              <a:buChar char="•"/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Recoger monedas. </a:t>
            </a:r>
          </a:p>
          <a:p>
            <a:pPr algn="just">
              <a:lnSpc>
                <a:spcPts val="2810"/>
              </a:lnSpc>
            </a:pPr>
            <a:r>
              <a:rPr lang="en-US" sz="16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Limitaciones</a:t>
            </a: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356952" lvl="1" indent="-178476" algn="just">
              <a:lnSpc>
                <a:spcPts val="2810"/>
              </a:lnSpc>
              <a:buFont typeface="Arial"/>
              <a:buChar char="•"/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puede atacar. </a:t>
            </a:r>
          </a:p>
          <a:p>
            <a:pPr marL="356952" lvl="1" indent="-178476" algn="just">
              <a:lnSpc>
                <a:spcPts val="2810"/>
              </a:lnSpc>
              <a:buFont typeface="Arial"/>
              <a:buChar char="•"/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puede volar. </a:t>
            </a:r>
          </a:p>
          <a:p>
            <a:pPr marL="356952" lvl="1" indent="-178476" algn="just">
              <a:lnSpc>
                <a:spcPts val="2810"/>
              </a:lnSpc>
              <a:buFont typeface="Arial"/>
              <a:buChar char="•"/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puede atravesar plataformas. </a:t>
            </a:r>
          </a:p>
          <a:p>
            <a:pPr marL="356952" lvl="1" indent="-178476" algn="just">
              <a:lnSpc>
                <a:spcPts val="2810"/>
              </a:lnSpc>
              <a:buFont typeface="Arial"/>
              <a:buChar char="•"/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Tiene un número limitado de vidas.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5766" y="3709096"/>
            <a:ext cx="4605204" cy="139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0"/>
              </a:lnSpc>
            </a:pPr>
            <a:r>
              <a:rPr lang="en-US" sz="16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</a:t>
            </a: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2810"/>
              </a:lnSpc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personaje pequeño y sencillo diseñado para ser fácilmente reconocible dentro del escenario.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54839" y="3585393"/>
            <a:ext cx="1975661" cy="34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0"/>
              </a:lnSpc>
            </a:pPr>
            <a:r>
              <a:rPr lang="en-US" sz="16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Tipo: </a:t>
            </a: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Aventurero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98386" y="4289999"/>
            <a:ext cx="4951364" cy="104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0"/>
              </a:lnSpc>
            </a:pPr>
            <a:r>
              <a:rPr lang="en-US" sz="16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Diseño:</a:t>
            </a:r>
          </a:p>
          <a:p>
            <a:pPr algn="just">
              <a:lnSpc>
                <a:spcPts val="2810"/>
              </a:lnSpc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personaje tendrá un diseño cartoon o pixel art sencillo para que sea fácil de implementar.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931209" y="9258300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144000" y="2866756"/>
            <a:ext cx="5027193" cy="6098435"/>
            <a:chOff x="0" y="0"/>
            <a:chExt cx="598823" cy="726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823" cy="726426"/>
            </a:xfrm>
            <a:custGeom>
              <a:avLst/>
              <a:gdLst/>
              <a:ahLst/>
              <a:cxnLst/>
              <a:rect l="l" t="t" r="r" b="b"/>
              <a:pathLst>
                <a:path w="598823" h="726426">
                  <a:moveTo>
                    <a:pt x="395623" y="0"/>
                  </a:moveTo>
                  <a:lnTo>
                    <a:pt x="0" y="0"/>
                  </a:lnTo>
                  <a:lnTo>
                    <a:pt x="203200" y="726426"/>
                  </a:lnTo>
                  <a:lnTo>
                    <a:pt x="598823" y="726426"/>
                  </a:lnTo>
                  <a:lnTo>
                    <a:pt x="395623" y="0"/>
                  </a:lnTo>
                  <a:close/>
                </a:path>
              </a:pathLst>
            </a:custGeom>
            <a:blipFill>
              <a:blip r:embed="rId8"/>
              <a:stretch>
                <a:fillRect l="-7673" r="-7423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2801636" y="2091332"/>
            <a:ext cx="4421120" cy="5967450"/>
            <a:chOff x="0" y="0"/>
            <a:chExt cx="526630" cy="7108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6630" cy="710824"/>
            </a:xfrm>
            <a:custGeom>
              <a:avLst/>
              <a:gdLst/>
              <a:ahLst/>
              <a:cxnLst/>
              <a:rect l="l" t="t" r="r" b="b"/>
              <a:pathLst>
                <a:path w="526630" h="710824">
                  <a:moveTo>
                    <a:pt x="323430" y="0"/>
                  </a:moveTo>
                  <a:lnTo>
                    <a:pt x="0" y="0"/>
                  </a:lnTo>
                  <a:lnTo>
                    <a:pt x="203200" y="710824"/>
                  </a:lnTo>
                  <a:lnTo>
                    <a:pt x="526630" y="710824"/>
                  </a:lnTo>
                  <a:lnTo>
                    <a:pt x="323430" y="0"/>
                  </a:lnTo>
                  <a:close/>
                </a:path>
              </a:pathLst>
            </a:custGeom>
            <a:blipFill>
              <a:blip r:embed="rId8"/>
              <a:stretch>
                <a:fillRect l="-88635" r="-1376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7842349" y="8725860"/>
            <a:ext cx="2603301" cy="1516368"/>
          </a:xfrm>
          <a:custGeom>
            <a:avLst/>
            <a:gdLst/>
            <a:ahLst/>
            <a:cxnLst/>
            <a:rect l="l" t="t" r="r" b="b"/>
            <a:pathLst>
              <a:path w="2603301" h="1516368">
                <a:moveTo>
                  <a:pt x="0" y="0"/>
                </a:moveTo>
                <a:lnTo>
                  <a:pt x="2603302" y="0"/>
                </a:lnTo>
                <a:lnTo>
                  <a:pt x="2603302" y="1516368"/>
                </a:lnTo>
                <a:lnTo>
                  <a:pt x="0" y="1516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71680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26431" y="2255091"/>
            <a:ext cx="4895915" cy="133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5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ENEMIGOS Y OBSTÁCULOS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3919" y="3782805"/>
            <a:ext cx="6915268" cy="456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627" lvl="1" indent="-209813" algn="l">
              <a:lnSpc>
                <a:spcPts val="3304"/>
              </a:lnSpc>
              <a:buFont typeface="Arial"/>
              <a:buChar char="•"/>
            </a:pPr>
            <a:r>
              <a:rPr lang="en-US" sz="19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Pinchos</a:t>
            </a:r>
          </a:p>
          <a:p>
            <a:pPr algn="just">
              <a:lnSpc>
                <a:spcPts val="3304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jugador pierde una vida al tocarlos.</a:t>
            </a:r>
          </a:p>
          <a:p>
            <a:pPr marL="419627" lvl="1" indent="-209813" algn="l">
              <a:lnSpc>
                <a:spcPts val="3304"/>
              </a:lnSpc>
              <a:buFont typeface="Arial"/>
              <a:buChar char="•"/>
            </a:pPr>
            <a:r>
              <a:rPr lang="en-US" sz="19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Huecos</a:t>
            </a:r>
          </a:p>
          <a:p>
            <a:pPr algn="just">
              <a:lnSpc>
                <a:spcPts val="3304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el jugador cae al vacío, pierde una vida y reaparece en el último punto de inicio.</a:t>
            </a:r>
          </a:p>
          <a:p>
            <a:pPr marL="419627" lvl="1" indent="-209813" algn="l">
              <a:lnSpc>
                <a:spcPts val="3304"/>
              </a:lnSpc>
              <a:buFont typeface="Arial"/>
              <a:buChar char="•"/>
            </a:pPr>
            <a:r>
              <a:rPr lang="en-US" sz="19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Enemigo simple</a:t>
            </a:r>
          </a:p>
          <a:p>
            <a:pPr algn="just">
              <a:lnSpc>
                <a:spcPts val="3304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pequeño enemigo que se desplaza de izquierda a derecha sobre una plataforma.</a:t>
            </a:r>
          </a:p>
          <a:p>
            <a:pPr marL="419627" lvl="1" indent="-209813" algn="l">
              <a:lnSpc>
                <a:spcPts val="3304"/>
              </a:lnSpc>
              <a:buFont typeface="Arial"/>
              <a:buChar char="•"/>
            </a:pPr>
            <a:r>
              <a:rPr lang="en-US" sz="19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Funcionamiento</a:t>
            </a: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3304"/>
              </a:lnSpc>
            </a:pPr>
            <a:r>
              <a:rPr lang="en-US" sz="19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 el personaje toca al enemigo, pierde una vida y vuelve al inicio del nivel.</a:t>
            </a:r>
          </a:p>
        </p:txBody>
      </p:sp>
      <p:sp>
        <p:nvSpPr>
          <p:cNvPr id="36" name="Freeform 36"/>
          <p:cNvSpPr/>
          <p:nvPr/>
        </p:nvSpPr>
        <p:spPr>
          <a:xfrm rot="-10800000">
            <a:off x="6095803" y="1287982"/>
            <a:ext cx="2603301" cy="1516368"/>
          </a:xfrm>
          <a:custGeom>
            <a:avLst/>
            <a:gdLst/>
            <a:ahLst/>
            <a:cxnLst/>
            <a:rect l="l" t="t" r="r" b="b"/>
            <a:pathLst>
              <a:path w="2603301" h="1516368">
                <a:moveTo>
                  <a:pt x="0" y="0"/>
                </a:moveTo>
                <a:lnTo>
                  <a:pt x="2603302" y="0"/>
                </a:lnTo>
                <a:lnTo>
                  <a:pt x="2603302" y="1516368"/>
                </a:lnTo>
                <a:lnTo>
                  <a:pt x="0" y="1516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7168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7259300" y="9258300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073569" y="9586513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573507" y="2644020"/>
            <a:ext cx="3741627" cy="4538928"/>
            <a:chOff x="0" y="0"/>
            <a:chExt cx="598823" cy="726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8823" cy="726426"/>
            </a:xfrm>
            <a:custGeom>
              <a:avLst/>
              <a:gdLst/>
              <a:ahLst/>
              <a:cxnLst/>
              <a:rect l="l" t="t" r="r" b="b"/>
              <a:pathLst>
                <a:path w="598823" h="726426">
                  <a:moveTo>
                    <a:pt x="395623" y="0"/>
                  </a:moveTo>
                  <a:lnTo>
                    <a:pt x="0" y="0"/>
                  </a:lnTo>
                  <a:lnTo>
                    <a:pt x="203200" y="726426"/>
                  </a:lnTo>
                  <a:lnTo>
                    <a:pt x="598823" y="726426"/>
                  </a:lnTo>
                  <a:lnTo>
                    <a:pt x="395623" y="0"/>
                  </a:lnTo>
                  <a:close/>
                </a:path>
              </a:pathLst>
            </a:custGeom>
            <a:blipFill>
              <a:blip r:embed="rId8"/>
              <a:stretch>
                <a:fillRect l="-41038" r="-41038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5779" y="9378567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139312" y="2644020"/>
            <a:ext cx="4148688" cy="5599732"/>
            <a:chOff x="0" y="0"/>
            <a:chExt cx="526630" cy="7108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6630" cy="710824"/>
            </a:xfrm>
            <a:custGeom>
              <a:avLst/>
              <a:gdLst/>
              <a:ahLst/>
              <a:cxnLst/>
              <a:rect l="l" t="t" r="r" b="b"/>
              <a:pathLst>
                <a:path w="526630" h="710824">
                  <a:moveTo>
                    <a:pt x="323430" y="0"/>
                  </a:moveTo>
                  <a:lnTo>
                    <a:pt x="0" y="0"/>
                  </a:lnTo>
                  <a:lnTo>
                    <a:pt x="203200" y="710824"/>
                  </a:lnTo>
                  <a:lnTo>
                    <a:pt x="526630" y="710824"/>
                  </a:lnTo>
                  <a:lnTo>
                    <a:pt x="323430" y="0"/>
                  </a:lnTo>
                  <a:close/>
                </a:path>
              </a:pathLst>
            </a:custGeom>
            <a:blipFill>
              <a:blip r:embed="rId9"/>
              <a:stretch>
                <a:fillRect l="-51295" r="-5129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526431" y="2169909"/>
            <a:ext cx="4979703" cy="64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43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NIVELES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1634" y="3370676"/>
            <a:ext cx="5772769" cy="345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58"/>
              </a:lnSpc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 1 — El bosque</a:t>
            </a:r>
          </a:p>
          <a:p>
            <a:pPr algn="just">
              <a:lnSpc>
                <a:spcPts val="2758"/>
              </a:lnSpc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Dificultad: Fácil.</a:t>
            </a:r>
          </a:p>
          <a:p>
            <a:pPr algn="just">
              <a:lnSpc>
                <a:spcPts val="2758"/>
              </a:lnSpc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jugador aprende las mecánicas básicas.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Plataformas grandes.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Pocos huecos.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Algunas monedas.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Pocos pinchos.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 enemigo o con un solo enemigo.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Bandera al final. </a:t>
            </a:r>
          </a:p>
          <a:p>
            <a:pPr algn="just">
              <a:lnSpc>
                <a:spcPts val="2758"/>
              </a:lnSpc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Objetivo: Aprender a moverse y saltar.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413919" y="3140661"/>
            <a:ext cx="4878078" cy="345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58"/>
              </a:lnSpc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 2 — El bosque peligroso</a:t>
            </a:r>
          </a:p>
          <a:p>
            <a:pPr algn="just">
              <a:lnSpc>
                <a:spcPts val="2758"/>
              </a:lnSpc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Dificultad: Media.</a:t>
            </a:r>
          </a:p>
          <a:p>
            <a:pPr algn="just">
              <a:lnSpc>
                <a:spcPts val="2758"/>
              </a:lnSpc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mantienen las mismas mecánicas, pero aumenta el desafío.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Plataformas más pequeñas.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Más huecos.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Más pinchos.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Monedas colocadas en lugares más difíciles. </a:t>
            </a:r>
          </a:p>
          <a:p>
            <a:pPr marL="350299" lvl="1" indent="-175149" algn="just">
              <a:lnSpc>
                <a:spcPts val="2758"/>
              </a:lnSpc>
              <a:buFont typeface="Arial"/>
              <a:buChar char="•"/>
            </a:pPr>
            <a:r>
              <a:rPr lang="en-US" sz="16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Uno o dos enemigos.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8071" y="7834289"/>
            <a:ext cx="5694126" cy="175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0"/>
              </a:lnSpc>
            </a:pPr>
            <a:r>
              <a:rPr lang="en-US" sz="16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Progresión:</a:t>
            </a:r>
          </a:p>
          <a:p>
            <a:pPr algn="just">
              <a:lnSpc>
                <a:spcPts val="2810"/>
              </a:lnSpc>
            </a:pPr>
            <a:r>
              <a:rPr lang="en-US" sz="165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Nivel 1 → Nivel 2</a:t>
            </a:r>
          </a:p>
          <a:p>
            <a:pPr algn="just">
              <a:lnSpc>
                <a:spcPts val="2810"/>
              </a:lnSpc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Plataformas grandes → plataformas pequeñas</a:t>
            </a:r>
          </a:p>
          <a:p>
            <a:pPr algn="just">
              <a:lnSpc>
                <a:spcPts val="2810"/>
              </a:lnSpc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Pocos obstáculos → más obstáculos</a:t>
            </a:r>
          </a:p>
          <a:p>
            <a:pPr algn="just">
              <a:lnSpc>
                <a:spcPts val="2810"/>
              </a:lnSpc>
            </a:pPr>
            <a:r>
              <a:rPr lang="en-US" sz="16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Saltos sencillos → saltos más precisos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206265" y="9723421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1054828" y="2008809"/>
            <a:ext cx="5336003" cy="5867478"/>
          </a:xfrm>
          <a:custGeom>
            <a:avLst/>
            <a:gdLst/>
            <a:ahLst/>
            <a:cxnLst/>
            <a:rect l="l" t="t" r="r" b="b"/>
            <a:pathLst>
              <a:path w="5336003" h="5867478">
                <a:moveTo>
                  <a:pt x="0" y="0"/>
                </a:moveTo>
                <a:lnTo>
                  <a:pt x="5336004" y="0"/>
                </a:lnTo>
                <a:lnTo>
                  <a:pt x="5336004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032354" y="7414575"/>
            <a:ext cx="5336674" cy="1940609"/>
          </a:xfrm>
          <a:custGeom>
            <a:avLst/>
            <a:gdLst/>
            <a:ahLst/>
            <a:cxnLst/>
            <a:rect l="l" t="t" r="r" b="b"/>
            <a:pathLst>
              <a:path w="5336674" h="1940609">
                <a:moveTo>
                  <a:pt x="0" y="0"/>
                </a:moveTo>
                <a:lnTo>
                  <a:pt x="5336674" y="0"/>
                </a:lnTo>
                <a:lnTo>
                  <a:pt x="5336674" y="1940608"/>
                </a:lnTo>
                <a:lnTo>
                  <a:pt x="0" y="19406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8475" y="9515475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6431" y="1994956"/>
            <a:ext cx="5245095" cy="64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43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ESTILO VISUAL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58437" y="2975127"/>
            <a:ext cx="6171756" cy="39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80"/>
              </a:lnSpc>
            </a:pPr>
            <a:r>
              <a:rPr lang="en-US" sz="192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Estilo gráfico: </a:t>
            </a:r>
            <a:r>
              <a:rPr lang="en-US" sz="19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Cartoon 2D / Pixel Art sencillo.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0837" y="3465146"/>
            <a:ext cx="6171756" cy="39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80"/>
              </a:lnSpc>
            </a:pPr>
            <a:r>
              <a:rPr lang="en-US" sz="192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Ambientación: </a:t>
            </a:r>
            <a:r>
              <a:rPr lang="en-US" sz="19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Bosque fantástico.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68968" y="3971288"/>
            <a:ext cx="4016781" cy="298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7"/>
              </a:lnSpc>
            </a:pPr>
            <a:r>
              <a:rPr lang="en-US" sz="15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Elementos visuales: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Árboles.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Césped.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Piedras.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Nubes.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Plataformas de tierra.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Monedas.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Banderas.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Pinchos.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80047" y="4495163"/>
            <a:ext cx="4016781" cy="198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77"/>
              </a:lnSpc>
            </a:pPr>
            <a:r>
              <a:rPr lang="en-US" sz="15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Paleta aproximada: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Verde: vegetación.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Azul: cielo.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Marrón: tierra y plataformas.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Amarillo: monedas. </a:t>
            </a:r>
          </a:p>
          <a:p>
            <a:pPr marL="340046" lvl="1" indent="-170023" algn="just">
              <a:lnSpc>
                <a:spcPts val="2677"/>
              </a:lnSpc>
              <a:buFont typeface="Arial"/>
              <a:buChar char="•"/>
            </a:pPr>
            <a:r>
              <a:rPr lang="en-US" sz="15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Rojo: elementos peligrosos.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3425892" y="3683946"/>
            <a:ext cx="11150424" cy="932904"/>
          </a:xfrm>
          <a:custGeom>
            <a:avLst/>
            <a:gdLst/>
            <a:ahLst/>
            <a:cxnLst/>
            <a:rect l="l" t="t" r="r" b="b"/>
            <a:pathLst>
              <a:path w="11150424" h="932904">
                <a:moveTo>
                  <a:pt x="0" y="0"/>
                </a:moveTo>
                <a:lnTo>
                  <a:pt x="11150424" y="0"/>
                </a:lnTo>
                <a:lnTo>
                  <a:pt x="11150424" y="932904"/>
                </a:lnTo>
                <a:lnTo>
                  <a:pt x="0" y="9329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80525" y="2245566"/>
            <a:ext cx="4726950" cy="64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43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INTERFAZ / UI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80139" y="5283600"/>
            <a:ext cx="4900386" cy="1846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89"/>
              </a:lnSpc>
            </a:pPr>
            <a:r>
              <a:rPr lang="en-US" sz="21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Parte superior de la pantalla:</a:t>
            </a:r>
          </a:p>
          <a:p>
            <a:pPr algn="just">
              <a:lnSpc>
                <a:spcPts val="3689"/>
              </a:lnSpc>
            </a:pPr>
            <a:r>
              <a:rPr lang="en-US" sz="21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🪙 Monedas: 0/10</a:t>
            </a:r>
          </a:p>
          <a:p>
            <a:pPr algn="just">
              <a:lnSpc>
                <a:spcPts val="3689"/>
              </a:lnSpc>
            </a:pPr>
            <a:r>
              <a:rPr lang="en-US" sz="21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❤️ Vidas: 3</a:t>
            </a:r>
          </a:p>
          <a:p>
            <a:pPr algn="just">
              <a:lnSpc>
                <a:spcPts val="3689"/>
              </a:lnSpc>
            </a:pPr>
            <a:r>
              <a:rPr lang="en-US" sz="21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⏱️ Tiempo: 00:00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07475" y="5274075"/>
            <a:ext cx="5960371" cy="193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65"/>
              </a:lnSpc>
            </a:pPr>
            <a:r>
              <a:rPr lang="en-US" sz="227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Información mostrada:</a:t>
            </a:r>
          </a:p>
          <a:p>
            <a:pPr marL="490966" lvl="1" indent="-245483" algn="just">
              <a:lnSpc>
                <a:spcPts val="3865"/>
              </a:lnSpc>
              <a:buFont typeface="Arial"/>
              <a:buChar char="•"/>
            </a:pPr>
            <a:r>
              <a:rPr lang="en-US" sz="22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Cantidad de monedas recogidas. </a:t>
            </a:r>
          </a:p>
          <a:p>
            <a:pPr marL="490966" lvl="1" indent="-245483" algn="just">
              <a:lnSpc>
                <a:spcPts val="3865"/>
              </a:lnSpc>
              <a:buFont typeface="Arial"/>
              <a:buChar char="•"/>
            </a:pPr>
            <a:r>
              <a:rPr lang="en-US" sz="22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Número de vidas restantes. </a:t>
            </a:r>
          </a:p>
          <a:p>
            <a:pPr marL="490966" lvl="1" indent="-245483" algn="just">
              <a:lnSpc>
                <a:spcPts val="3865"/>
              </a:lnSpc>
              <a:buFont typeface="Arial"/>
              <a:buChar char="•"/>
            </a:pPr>
            <a:r>
              <a:rPr lang="en-US" sz="22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 de juego.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3514762" y="6702534"/>
            <a:ext cx="1225452" cy="1450239"/>
          </a:xfrm>
          <a:custGeom>
            <a:avLst/>
            <a:gdLst/>
            <a:ahLst/>
            <a:cxnLst/>
            <a:rect l="l" t="t" r="r" b="b"/>
            <a:pathLst>
              <a:path w="1225452" h="1450239">
                <a:moveTo>
                  <a:pt x="0" y="0"/>
                </a:moveTo>
                <a:lnTo>
                  <a:pt x="1225452" y="0"/>
                </a:lnTo>
                <a:lnTo>
                  <a:pt x="1225452" y="1450239"/>
                </a:lnTo>
                <a:lnTo>
                  <a:pt x="0" y="14502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269346" y="7519102"/>
            <a:ext cx="1267342" cy="1267342"/>
          </a:xfrm>
          <a:custGeom>
            <a:avLst/>
            <a:gdLst/>
            <a:ahLst/>
            <a:cxnLst/>
            <a:rect l="l" t="t" r="r" b="b"/>
            <a:pathLst>
              <a:path w="1267342" h="1267342">
                <a:moveTo>
                  <a:pt x="0" y="0"/>
                </a:moveTo>
                <a:lnTo>
                  <a:pt x="1267343" y="0"/>
                </a:lnTo>
                <a:lnTo>
                  <a:pt x="1267343" y="1267342"/>
                </a:lnTo>
                <a:lnTo>
                  <a:pt x="0" y="12673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503961" y="7224557"/>
            <a:ext cx="1450088" cy="1620210"/>
          </a:xfrm>
          <a:custGeom>
            <a:avLst/>
            <a:gdLst/>
            <a:ahLst/>
            <a:cxnLst/>
            <a:rect l="l" t="t" r="r" b="b"/>
            <a:pathLst>
              <a:path w="1450088" h="1620210">
                <a:moveTo>
                  <a:pt x="0" y="0"/>
                </a:moveTo>
                <a:lnTo>
                  <a:pt x="1450088" y="0"/>
                </a:lnTo>
                <a:lnTo>
                  <a:pt x="1450088" y="1620210"/>
                </a:lnTo>
                <a:lnTo>
                  <a:pt x="0" y="16202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6431" y="2000417"/>
            <a:ext cx="5139017" cy="128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43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PANTALLAS INICIAL Y FINAL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65336" y="4726948"/>
            <a:ext cx="4313643" cy="213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COIN ERA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Salta, recoge y llega a la meta.</a:t>
            </a:r>
          </a:p>
          <a:p>
            <a:pPr algn="just">
              <a:lnSpc>
                <a:spcPts val="340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Botones: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Jugar 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Salir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1634" y="3687673"/>
            <a:ext cx="4482452" cy="71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Pantalla inicial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Mostrará: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12238" y="3649573"/>
            <a:ext cx="4482452" cy="71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Pantalla de victoria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Mostrará: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72740" y="4665507"/>
            <a:ext cx="4406350" cy="3487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3"/>
              </a:lnSpc>
            </a:pPr>
            <a:r>
              <a:rPr lang="en-US" sz="20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el jugador llegue a la bandera:</a:t>
            </a:r>
          </a:p>
          <a:p>
            <a:pPr algn="just">
              <a:lnSpc>
                <a:spcPts val="3473"/>
              </a:lnSpc>
            </a:pPr>
            <a:r>
              <a:rPr lang="en-US" sz="204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¡NIVEL COMPLETADO!</a:t>
            </a:r>
          </a:p>
          <a:p>
            <a:pPr algn="just">
              <a:lnSpc>
                <a:spcPts val="3473"/>
              </a:lnSpc>
            </a:pPr>
            <a:r>
              <a:rPr lang="en-US" sz="204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 mostrará:</a:t>
            </a:r>
          </a:p>
          <a:p>
            <a:pPr marL="441081" lvl="1" indent="-220540" algn="just">
              <a:lnSpc>
                <a:spcPts val="3473"/>
              </a:lnSpc>
              <a:buFont typeface="Arial"/>
              <a:buChar char="•"/>
            </a:pPr>
            <a:r>
              <a:rPr lang="en-US" sz="20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Monedas obtenidas. </a:t>
            </a:r>
          </a:p>
          <a:p>
            <a:pPr marL="441081" lvl="1" indent="-220540" algn="just">
              <a:lnSpc>
                <a:spcPts val="3473"/>
              </a:lnSpc>
              <a:buFont typeface="Arial"/>
              <a:buChar char="•"/>
            </a:pPr>
            <a:r>
              <a:rPr lang="en-US" sz="20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Tiempo utilizado. </a:t>
            </a:r>
          </a:p>
          <a:p>
            <a:pPr marL="441081" lvl="1" indent="-220540" algn="just">
              <a:lnSpc>
                <a:spcPts val="3473"/>
              </a:lnSpc>
              <a:buFont typeface="Arial"/>
              <a:buChar char="•"/>
            </a:pPr>
            <a:r>
              <a:rPr lang="en-US" sz="20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Botón Siguiente nivel. </a:t>
            </a:r>
          </a:p>
          <a:p>
            <a:pPr marL="441081" lvl="1" indent="-220540" algn="just">
              <a:lnSpc>
                <a:spcPts val="3473"/>
              </a:lnSpc>
              <a:buFont typeface="Arial"/>
              <a:buChar char="•"/>
            </a:pPr>
            <a:r>
              <a:rPr lang="en-US" sz="20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Botón Reintentar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32842" y="3611473"/>
            <a:ext cx="4482452" cy="71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Pantalla de derrota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Mostrará: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56764" y="4655982"/>
            <a:ext cx="4313643" cy="256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el jugador pierda todas sus vidas:</a:t>
            </a:r>
          </a:p>
          <a:p>
            <a:pPr algn="just">
              <a:lnSpc>
                <a:spcPts val="340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GAME OVER</a:t>
            </a:r>
          </a:p>
          <a:p>
            <a:pPr algn="just">
              <a:lnSpc>
                <a:spcPts val="340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Botones: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Reintentar </a:t>
            </a:r>
          </a:p>
          <a:p>
            <a:pPr marL="431801" lvl="1" indent="-215900" algn="just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Menú principal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931087" y="9258300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020976" y="9409096"/>
            <a:ext cx="942713" cy="0"/>
          </a:xfrm>
          <a:prstGeom prst="line">
            <a:avLst/>
          </a:prstGeom>
          <a:ln w="19050" cap="flat">
            <a:solidFill>
              <a:srgbClr val="C416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841325">
            <a:off x="18196126" y="6246886"/>
            <a:ext cx="3507188" cy="2472567"/>
          </a:xfrm>
          <a:custGeom>
            <a:avLst/>
            <a:gdLst/>
            <a:ahLst/>
            <a:cxnLst/>
            <a:rect l="l" t="t" r="r" b="b"/>
            <a:pathLst>
              <a:path w="3507188" h="2472567">
                <a:moveTo>
                  <a:pt x="0" y="0"/>
                </a:moveTo>
                <a:lnTo>
                  <a:pt x="3507187" y="0"/>
                </a:lnTo>
                <a:lnTo>
                  <a:pt x="3507187" y="2472567"/>
                </a:lnTo>
                <a:lnTo>
                  <a:pt x="0" y="247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4342315" y="2724185"/>
            <a:ext cx="10731656" cy="7154437"/>
          </a:xfrm>
          <a:custGeom>
            <a:avLst/>
            <a:gdLst/>
            <a:ahLst/>
            <a:cxnLst/>
            <a:rect l="l" t="t" r="r" b="b"/>
            <a:pathLst>
              <a:path w="10731656" h="7154437">
                <a:moveTo>
                  <a:pt x="0" y="0"/>
                </a:moveTo>
                <a:lnTo>
                  <a:pt x="10731656" y="0"/>
                </a:lnTo>
                <a:lnTo>
                  <a:pt x="10731656" y="7154437"/>
                </a:lnTo>
                <a:lnTo>
                  <a:pt x="0" y="71544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3187" y="9201150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52010" y="1848480"/>
            <a:ext cx="7924283" cy="64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4300" b="1" i="1">
                <a:solidFill>
                  <a:srgbClr val="FFFFFF">
                    <a:alpha val="94902"/>
                  </a:srgbClr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BOCETO DEL PRIMER NIVEL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3117" y="425194"/>
            <a:ext cx="656183" cy="427115"/>
          </a:xfrm>
          <a:custGeom>
            <a:avLst/>
            <a:gdLst/>
            <a:ahLst/>
            <a:cxnLst/>
            <a:rect l="l" t="t" r="r" b="b"/>
            <a:pathLst>
              <a:path w="656183" h="427115">
                <a:moveTo>
                  <a:pt x="0" y="0"/>
                </a:moveTo>
                <a:lnTo>
                  <a:pt x="656183" y="0"/>
                </a:lnTo>
                <a:lnTo>
                  <a:pt x="656183" y="427115"/>
                </a:lnTo>
                <a:lnTo>
                  <a:pt x="0" y="4271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257218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w="19050" cap="flat">
            <a:solidFill>
              <a:srgbClr val="D640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6602874" y="8930087"/>
            <a:ext cx="656426" cy="656426"/>
          </a:xfrm>
          <a:custGeom>
            <a:avLst/>
            <a:gdLst/>
            <a:ahLst/>
            <a:cxnLst/>
            <a:rect l="l" t="t" r="r" b="b"/>
            <a:pathLst>
              <a:path w="656426" h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3797501" y="9258300"/>
            <a:ext cx="942713" cy="0"/>
          </a:xfrm>
          <a:prstGeom prst="line">
            <a:avLst/>
          </a:prstGeom>
          <a:ln w="19050" cap="flat">
            <a:solidFill>
              <a:srgbClr val="D640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1271833">
            <a:off x="1462652" y="6746856"/>
            <a:ext cx="2349469" cy="1655592"/>
          </a:xfrm>
          <a:custGeom>
            <a:avLst/>
            <a:gdLst/>
            <a:ahLst/>
            <a:cxnLst/>
            <a:rect l="l" t="t" r="r" b="b"/>
            <a:pathLst>
              <a:path w="2349469" h="1655592">
                <a:moveTo>
                  <a:pt x="0" y="0"/>
                </a:moveTo>
                <a:lnTo>
                  <a:pt x="2349469" y="0"/>
                </a:lnTo>
                <a:lnTo>
                  <a:pt x="2349469" y="1655592"/>
                </a:lnTo>
                <a:lnTo>
                  <a:pt x="0" y="16555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579857" y="430789"/>
            <a:ext cx="11282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C4164A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3668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28069" y="430806"/>
            <a:ext cx="1537379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40300"/>
            <a:ext cx="2768801" cy="34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COIN ERA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5222" y="3259144"/>
            <a:ext cx="10877555" cy="341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71"/>
              </a:lnSpc>
            </a:pPr>
            <a:r>
              <a:rPr lang="en-US" sz="14412" b="1" i="1">
                <a:solidFill>
                  <a:srgbClr val="D640C6"/>
                </a:solidFill>
                <a:latin typeface="Tomorrow Bold Italics"/>
                <a:ea typeface="Tomorrow Bold Italics"/>
                <a:cs typeface="Tomorrow Bold Italics"/>
                <a:sym typeface="Tomorrow Bold Italics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9711" y="9050354"/>
            <a:ext cx="2634387" cy="35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id="15" name="Freeform 15"/>
          <p:cNvSpPr/>
          <p:nvPr/>
        </p:nvSpPr>
        <p:spPr>
          <a:xfrm rot="10223660" flipV="1">
            <a:off x="14459957" y="6885353"/>
            <a:ext cx="2349469" cy="1655592"/>
          </a:xfrm>
          <a:custGeom>
            <a:avLst/>
            <a:gdLst/>
            <a:ahLst/>
            <a:cxnLst/>
            <a:rect l="l" t="t" r="r" b="b"/>
            <a:pathLst>
              <a:path w="2349469" h="1655592">
                <a:moveTo>
                  <a:pt x="0" y="1655593"/>
                </a:moveTo>
                <a:lnTo>
                  <a:pt x="2349469" y="1655593"/>
                </a:lnTo>
                <a:lnTo>
                  <a:pt x="2349469" y="0"/>
                </a:lnTo>
                <a:lnTo>
                  <a:pt x="0" y="0"/>
                </a:lnTo>
                <a:lnTo>
                  <a:pt x="0" y="1655593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48535" y="1848480"/>
            <a:ext cx="160330" cy="160330"/>
            <a:chOff x="0" y="0"/>
            <a:chExt cx="313109" cy="3131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5766" y="2162797"/>
            <a:ext cx="325867" cy="325867"/>
            <a:chOff x="0" y="0"/>
            <a:chExt cx="636389" cy="63638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6389" cy="636389"/>
            </a:xfrm>
            <a:custGeom>
              <a:avLst/>
              <a:gdLst/>
              <a:ahLst/>
              <a:cxnLst/>
              <a:rect l="l" t="t" r="r" b="b"/>
              <a:pathLst>
                <a:path w="636389" h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8535" y="2245566"/>
            <a:ext cx="160330" cy="160330"/>
            <a:chOff x="0" y="0"/>
            <a:chExt cx="313109" cy="3131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8535" y="2644020"/>
            <a:ext cx="160330" cy="160330"/>
            <a:chOff x="0" y="0"/>
            <a:chExt cx="313109" cy="3131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8535" y="3041106"/>
            <a:ext cx="160330" cy="160330"/>
            <a:chOff x="0" y="0"/>
            <a:chExt cx="313109" cy="3131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3109" cy="313109"/>
            </a:xfrm>
            <a:custGeom>
              <a:avLst/>
              <a:gdLst/>
              <a:ahLst/>
              <a:cxnLst/>
              <a:rect l="l" t="t" r="r" b="b"/>
              <a:pathLst>
                <a:path w="313109" h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861</Words>
  <Application>Microsoft Office PowerPoint</Application>
  <PresentationFormat>Personalizado</PresentationFormat>
  <Paragraphs>201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Tomorrow Bold Italics</vt:lpstr>
      <vt:lpstr>Poppins Bold</vt:lpstr>
      <vt:lpstr>Poppins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Design Document-Coin Era</dc:title>
  <cp:lastModifiedBy>Miguel Ángel Medina Arrieta</cp:lastModifiedBy>
  <cp:revision>2</cp:revision>
  <dcterms:created xsi:type="dcterms:W3CDTF">2006-08-16T00:00:00Z</dcterms:created>
  <dcterms:modified xsi:type="dcterms:W3CDTF">2026-09-03T06:37:24Z</dcterms:modified>
  <dc:identifier>DAHUFFitcsY</dc:identifier>
</cp:coreProperties>
</file>